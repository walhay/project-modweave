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57" r:id="rId3"/>
    <p:sldId id="274" r:id="rId4"/>
    <p:sldId id="275" r:id="rId5"/>
    <p:sldId id="276" r:id="rId6"/>
    <p:sldId id="277" r:id="rId7"/>
    <p:sldId id="279" r:id="rId8"/>
    <p:sldId id="278" r:id="rId9"/>
    <p:sldId id="285" r:id="rId10"/>
    <p:sldId id="280" r:id="rId11"/>
    <p:sldId id="271" r:id="rId12"/>
    <p:sldId id="281" r:id="rId13"/>
    <p:sldId id="282" r:id="rId14"/>
    <p:sldId id="283" r:id="rId15"/>
    <p:sldId id="284" r:id="rId16"/>
    <p:sldId id="272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115"/>
    <p:restoredTop sz="94649"/>
  </p:normalViewPr>
  <p:slideViewPr>
    <p:cSldViewPr snapToGrid="0">
      <p:cViewPr varScale="1">
        <p:scale>
          <a:sx n="130" d="100"/>
          <a:sy n="130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E04CD-7029-9145-86D5-BB60ABEFB1D0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E4B62-8161-EE4F-B065-B7BA90F26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0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7276-20CC-0DB2-8C17-E892A44BD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4DFB7-D60F-745A-D2EB-7BDA1BACC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0154-36C6-1DCF-CC47-7687F6FB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9D7C-343A-A64A-99CA-611C923C49C5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17CD2-2724-1FDD-E32F-3CAE7F1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E4382-E530-6ACB-0E7A-587B289A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9525-366C-DF9A-98D1-C116AF5C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2F4C8-629A-1028-FB71-956FDD465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70E4-A681-6D58-ECE2-250B07E6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B1D0-07F0-854B-BC82-B98C6D9CB50E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A41BA-2D7E-67C7-DAF4-FEA99692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843C9-19AE-5FAC-076B-48E62983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6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60C8-52D6-41D6-0D8A-CB0253DB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33906-346A-D566-46BB-7BA5440FB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FF25-4C8D-B54F-82DD-610008F2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B75A4-29DD-4646-9604-007570BE00A9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761AE-32CB-72D9-52EE-B92F97DF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4F49F-05D6-145A-4982-9A607826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6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06C3-7C1A-D42C-9BD0-32574788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267A-D555-6772-D21F-EA0972127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4C09C-87F8-E97E-F037-A5B411243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BB04F-1FBD-76CC-1259-59DF31E6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42495-DC1B-7249-A887-03999410183C}" type="datetime1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F7204-7554-0022-AFF8-3F184C1D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D85DB-1C13-12B1-9ABE-8FDC4629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4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05DF-D27D-0873-072E-C8EED4FE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E088-B0C8-A098-D0E7-541A18044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B6BA8-6A95-1083-7B2A-8ACBE1AF5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19F7B-D279-98DD-F3CD-1A21F004D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22A91-229A-E33D-A007-7A3AFFDE6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B6E5CA-907D-6CB2-4926-3E37749F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99833-9855-5947-8993-A37919425159}" type="datetime1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96958-1675-8FDB-9286-FFE2D733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CEE89-0F1C-892E-891C-75F5718B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3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4D5D-7A37-1A8F-0791-8AD123A5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5FA84-3C0C-0422-5E8B-FF8D45C8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F47A0-A25A-3A4F-975D-FA1A1CE57869}" type="datetime1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50680-8936-6007-00EA-E727C012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B6FD5-03E5-CA31-E7F1-1DBAF34A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8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13E03-E97F-DEE7-B28A-BB8E95F9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E9FA-623E-974A-B1FA-66460F8B7346}" type="datetime1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5EDAF-1362-5EF8-AFF3-38C64E08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DFB85-65A6-5461-E763-7CB992549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5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FCE5-BE0A-DCF6-2F1F-C6139A21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4313D-3055-18CD-EC9F-BFD29F41B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9E4EB-8AE2-ED38-D12A-D3DF14A31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E42EF-D909-839F-FF34-A6E13CC3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2EC5E-56B0-F84A-96FE-8FDD54694C5B}" type="datetime1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0EC24-285B-2452-234D-19D2D996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52480-B73A-3CCE-1A6A-2D329B22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7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A998-A997-D076-F442-2D2EF1EE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EEC38-2AE0-C1E8-399E-634D91458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CD173-CD17-BC94-E452-43A65697C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9890C-9E3E-4774-4F07-11CC2DD9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32F6-8BA0-5D46-A0FB-6D5CDCD54C5A}" type="datetime1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DEE8A-169C-5090-BE78-A761E37B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FA997-8657-AA12-CCE8-BC1ECF71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2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63C0-EA59-82AA-EFD2-4913705E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0C3CB-FF27-C9FA-760F-8B253AC97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2C942-7834-D570-F9FC-E3068F3A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E58-B4A6-C04B-A3ED-80C91286B724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073B5-E428-2594-510F-7D14CCEE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718B5-CF40-57BB-61AC-85F4EC40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7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81A27-0DF8-8C38-269C-594D63358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FDD71-3AFF-63EC-1694-4A7EE45BA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E658-B706-4F41-DF36-6DAB7D49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8803B-743F-AC4D-A794-28CB937744EA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EDDCD-F420-3FF2-E89D-CE5A357A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5D12F-026F-15E8-0D16-0843AE24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7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9A08A-3531-AA86-FE2B-F31DC155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9EF9E-8E10-1272-769E-B64A189CD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A2E34-63CA-C1CA-A2AC-D9DA4ADDD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0144D-BE57-E34E-B05E-09AF2D93121A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2F092-007D-6B8D-12FF-A1DCD2F79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14D9F-0C05-31C6-0AF7-3AEF84684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67CC65-E85B-4849-9886-BF40B8DEC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7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0CEB-FA8F-833A-276F-B45F75708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Autofit/>
          </a:bodyPr>
          <a:lstStyle/>
          <a:p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</a:t>
            </a:r>
            <a:b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«Московский государственный технический университет</a:t>
            </a:r>
            <a:b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имени Н.Э. Баумана</a:t>
            </a:r>
            <a:b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университет)»</a:t>
            </a:r>
            <a:b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(МГТУ им. Н.Э. Баумана)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A46A7-C360-2042-AFEB-B435CBD43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6372"/>
            <a:ext cx="9144000" cy="165576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базы данных для хранения и обработки данных платформы игровых модификаций»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170CA70-8605-0C03-2BEB-DE05A0D32A94}"/>
              </a:ext>
            </a:extLst>
          </p:cNvPr>
          <p:cNvSpPr txBox="1">
            <a:spLocks/>
          </p:cNvSpPr>
          <p:nvPr/>
        </p:nvSpPr>
        <p:spPr>
          <a:xfrm>
            <a:off x="135467" y="5972705"/>
            <a:ext cx="6680199" cy="885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Колоколов Глеб Игоревич ИУ7-65Б</a:t>
            </a:r>
          </a:p>
          <a:p>
            <a:pPr algn="l">
              <a:spcBef>
                <a:spcPts val="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Шибанова Дарья Александровна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hield with a gold star and blue ribbon&#10;&#10;AI-generated content may be incorrect.">
            <a:extLst>
              <a:ext uri="{FF2B5EF4-FFF2-40B4-BE49-F238E27FC236}">
                <a16:creationId xmlns:a16="http://schemas.microsoft.com/office/drawing/2014/main" id="{6461C767-9C7E-466A-FACC-8ED623D19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463287"/>
            <a:ext cx="1491059" cy="176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9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E1F5-D15C-F247-0B3B-A7062FBF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CF28D-AD5B-0A3F-10A7-EC5CB78D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—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 для платформы игровых модификаций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области;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базу данных;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базу данных для хранения и обработки данных модификаций и связанных с ними сущностей;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характеристики разработанной базы данных.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CFFD5-2227-BE89-2D88-FDFADB5D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288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152A-8025-366B-A04B-874D4EA3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991F-E4C8-C9C7-207D-28C8B3B3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сущностями предметной области являются: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– программа для которой создаются модификации;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 – категория, к которой может относиться модификация;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модификация – набор различных версий модификаций;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версия модификации – определенная версия некоторой модификации;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модификации – определенный файл некоторой версии модификации;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– человек, использующий платформу;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комментарий – текст, который пользователь оставляет к модификации;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подборка – множество сгруппированных пользователем модификаций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D036C-35F0-BB5B-5E36-76314B56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9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02E7C-6C2E-5B0E-6BC5-9AFC7FA3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аналогичных решений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F59FABC-8E0F-8C3D-AF6C-73427FC2C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886287"/>
              </p:ext>
            </p:extLst>
          </p:nvPr>
        </p:nvGraphicFramePr>
        <p:xfrm>
          <a:off x="673100" y="2933702"/>
          <a:ext cx="10515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278301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18996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14904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3429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Nexus Mods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Curseforge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Modrinth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667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03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517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89539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83064-216E-6AE9-7EDB-E5C7EF64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7059F-1A3B-E1E4-C1B4-091D59B8CCAA}"/>
              </a:ext>
            </a:extLst>
          </p:cNvPr>
          <p:cNvSpPr txBox="1"/>
          <p:nvPr/>
        </p:nvSpPr>
        <p:spPr>
          <a:xfrm>
            <a:off x="673100" y="1690688"/>
            <a:ext cx="75452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К1 – возможность скачивать модификации без регистрации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К2 – возможность создания пользовательских наборов модификаций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К3 – наличие обратной связи у создателей модификаций (комментарии)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54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3B60-ECAE-35F5-6E9B-10042814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484D76-C703-A004-B626-5E8E13663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8168" y="533400"/>
            <a:ext cx="4102542" cy="58056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928A1-8CB7-4B5B-9BD8-4C7C921C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6E860-FD11-E671-2967-0E222EC3B288}"/>
              </a:ext>
            </a:extLst>
          </p:cNvPr>
          <p:cNvSpPr txBox="1"/>
          <p:nvPr/>
        </p:nvSpPr>
        <p:spPr>
          <a:xfrm>
            <a:off x="544286" y="1937657"/>
            <a:ext cx="67273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Гость может свободно просматривать и скачивать модификации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Авторизованный пользователь может выкладывать свои модификации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 занимается управлением справочной информацией и модерацией модификаций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90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89F1-CC9B-D9D9-E834-69F2E5F6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сущность-связь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C27D36-06D2-22B0-11B5-145449F6F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2150"/>
            <a:ext cx="8578198" cy="48958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05378-D1F3-8D60-DA18-15C48871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7FC3A-637B-930F-C0E1-88A3072D4BD8}"/>
              </a:ext>
            </a:extLst>
          </p:cNvPr>
          <p:cNvSpPr txBox="1"/>
          <p:nvPr/>
        </p:nvSpPr>
        <p:spPr>
          <a:xfrm>
            <a:off x="948568" y="1364754"/>
            <a:ext cx="8578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 проведен анализ функциональных зависимостей, подтвердивший соответствие всех отношений требованиям 3 нормальной формы.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24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4C71-6647-47E0-44ED-368CA830B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модели хранения данных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2D6A-FF65-BFFE-4928-03FB89166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1184275"/>
          </a:xfrm>
        </p:spPr>
        <p:txBody>
          <a:bodyPr anchor="t">
            <a:no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К1 – обеспечение строгой ссылочной целостности на уровне СУБД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К2 – наличие декларативного языка запросов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аналоги)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К3 – поддержка связей типа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 ко многим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M:N)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дублирования данных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К4 – отсутствие аномалий вставки, обновления и удаления за счет механизмов нормализации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К5 – возможность горизонтального масштабирования системы.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0D9AF-02E8-4373-A9CA-4455A5B6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30353-599E-B369-7827-562AB148D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6304"/>
              </p:ext>
            </p:extLst>
          </p:nvPr>
        </p:nvGraphicFramePr>
        <p:xfrm>
          <a:off x="838200" y="3018366"/>
          <a:ext cx="10515599" cy="221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8162">
                  <a:extLst>
                    <a:ext uri="{9D8B030D-6E8A-4147-A177-3AD203B41FA5}">
                      <a16:colId xmlns:a16="http://schemas.microsoft.com/office/drawing/2014/main" val="1884169246"/>
                    </a:ext>
                  </a:extLst>
                </a:gridCol>
                <a:gridCol w="1511616">
                  <a:extLst>
                    <a:ext uri="{9D8B030D-6E8A-4147-A177-3AD203B41FA5}">
                      <a16:colId xmlns:a16="http://schemas.microsoft.com/office/drawing/2014/main" val="1937649999"/>
                    </a:ext>
                  </a:extLst>
                </a:gridCol>
                <a:gridCol w="1602822">
                  <a:extLst>
                    <a:ext uri="{9D8B030D-6E8A-4147-A177-3AD203B41FA5}">
                      <a16:colId xmlns:a16="http://schemas.microsoft.com/office/drawing/2014/main" val="236638393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32211425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481187910"/>
                    </a:ext>
                  </a:extLst>
                </a:gridCol>
                <a:gridCol w="1714499">
                  <a:extLst>
                    <a:ext uri="{9D8B030D-6E8A-4147-A177-3AD203B41FA5}">
                      <a16:colId xmlns:a16="http://schemas.microsoft.com/office/drawing/2014/main" val="3473883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К1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К2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К3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К4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К5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75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Иерархическая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781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Сетевая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82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Реляционная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+/-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543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Ключ-значение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118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Документная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+/-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+/-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58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992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B87C-F85C-FBB8-4C9E-7B6419D3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базы данных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7C24A8-15FD-76DE-1907-73B695838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196" y="1825625"/>
            <a:ext cx="1022160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AD2BB-831D-4C15-B41C-8D384532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07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D88F-5D22-75EF-4830-7737131A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7E373-9EAF-D10A-B6E9-BB64F1463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Kotlin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1F4C3-D1A5-1594-F2B7-02A83259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Грабли, спрятанные в Kotlin / Хабр">
            <a:extLst>
              <a:ext uri="{FF2B5EF4-FFF2-40B4-BE49-F238E27FC236}">
                <a16:creationId xmlns:a16="http://schemas.microsoft.com/office/drawing/2014/main" id="{34275205-06B2-15CE-D0B1-8E9A1636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804661"/>
            <a:ext cx="2698729" cy="186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Простенький бекенд на Kotlin и Spring Boot / Песочница / Хабр">
            <a:extLst>
              <a:ext uri="{FF2B5EF4-FFF2-40B4-BE49-F238E27FC236}">
                <a16:creationId xmlns:a16="http://schemas.microsoft.com/office/drawing/2014/main" id="{A77AB22B-F1FC-19E6-B054-8B12A1CAC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317" y="4357171"/>
            <a:ext cx="4462094" cy="213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ostgreSQL - Wikipedia">
            <a:extLst>
              <a:ext uri="{FF2B5EF4-FFF2-40B4-BE49-F238E27FC236}">
                <a16:creationId xmlns:a16="http://schemas.microsoft.com/office/drawing/2014/main" id="{54347444-9CD5-316C-CCFD-776809A7E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29" y="729636"/>
            <a:ext cx="1993258" cy="2057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dis Stream — надёжность и масштабируемость ваших систем сообщений / Хабр">
            <a:extLst>
              <a:ext uri="{FF2B5EF4-FFF2-40B4-BE49-F238E27FC236}">
                <a16:creationId xmlns:a16="http://schemas.microsoft.com/office/drawing/2014/main" id="{FA781855-AA46-0EFC-4887-A7FC1618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045" y="3368652"/>
            <a:ext cx="4881966" cy="163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0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40F86-6BF0-6725-F92C-1188DA46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триггера проверки наличия файлов версии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E40166-28B3-02A6-3E3D-81596F3A0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3238"/>
            <a:ext cx="438362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E3DAA-649D-FE00-8E09-340E1B57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49B05C-37AE-A071-6210-4A596043E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364499"/>
              </p:ext>
            </p:extLst>
          </p:nvPr>
        </p:nvGraphicFramePr>
        <p:xfrm>
          <a:off x="6141650" y="2283619"/>
          <a:ext cx="5219700" cy="347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9850">
                  <a:extLst>
                    <a:ext uri="{9D8B030D-6E8A-4147-A177-3AD203B41FA5}">
                      <a16:colId xmlns:a16="http://schemas.microsoft.com/office/drawing/2014/main" val="3862428032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415152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Тестовый сценарий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036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Изменение статуса версии на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 наличии файлов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Обновление выполнено успешно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97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Изменение статуса версии на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Обновление выполнено успешно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69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Изменение статуса версии на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Обновление выполнено успешно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3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Изменение статуса версии на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 отсутствии файлов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Сгенерирована ошибка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4255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78F77CA-3AC9-E037-2C82-FAC8D414786C}"/>
              </a:ext>
            </a:extLst>
          </p:cNvPr>
          <p:cNvSpPr txBox="1"/>
          <p:nvPr/>
        </p:nvSpPr>
        <p:spPr>
          <a:xfrm>
            <a:off x="7150100" y="1459855"/>
            <a:ext cx="3202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триггера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15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7211-3B8C-2C1E-C624-22284A81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CA29F-2F30-0A9C-2750-50B75B4A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EC077-670E-F092-975F-F02979991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исследования является анализ влияния различных типов индексов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скорость поиска игровых модификаций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производилось на таблице модификаций содержащей 100000 случайно сгенерированных строк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повышения достоверности результатов выполнялось несколько запусков каждого запроса с последующим вычислением среднего значения.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устройства на которой было проведено исследование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MacOS Tahoe 26.6;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ОЗУ – 16Гб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Apple M1 Pro.</a:t>
            </a:r>
          </a:p>
        </p:txBody>
      </p:sp>
    </p:spTree>
    <p:extLst>
      <p:ext uri="{BB962C8B-B14F-4D97-AF65-F5344CB8AC3E}">
        <p14:creationId xmlns:p14="http://schemas.microsoft.com/office/powerpoint/2010/main" val="3569101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8B872-6AC7-24F4-5246-58A36CC0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 используемая индексами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4B2762-45F5-6477-7D42-E1D9D0EF3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846CB-3C3A-1DBC-F841-F90F195C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1CA9B-8642-F733-B373-9818FCBC1396}"/>
              </a:ext>
            </a:extLst>
          </p:cNvPr>
          <p:cNvSpPr txBox="1"/>
          <p:nvPr/>
        </p:nvSpPr>
        <p:spPr>
          <a:xfrm>
            <a:off x="4341353" y="6112768"/>
            <a:ext cx="3285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памяти используемый индексами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86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250C-D534-F78C-2C49-2C42A756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поиска по точному совпадению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F87536-EE34-4468-D061-D5C59B8E5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796" y="1825625"/>
            <a:ext cx="783240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F0CB4-8EB7-25EA-3356-9AB503CE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1033F7-C3C9-B050-5CE2-3F92D772DE47}"/>
              </a:ext>
            </a:extLst>
          </p:cNvPr>
          <p:cNvSpPr txBox="1"/>
          <p:nvPr/>
        </p:nvSpPr>
        <p:spPr>
          <a:xfrm>
            <a:off x="4341353" y="6112768"/>
            <a:ext cx="4872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запроса поиска по точному совпадению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87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342F-F234-70D8-4BF2-882009DC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поиска по диапазону значений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842D81-1639-2742-3F6C-25435AE3A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796" y="1825625"/>
            <a:ext cx="783240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DCA03-1D26-B961-C05C-FBE666B6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8D619-87D6-1D48-F59E-1E7DF2320B5A}"/>
              </a:ext>
            </a:extLst>
          </p:cNvPr>
          <p:cNvSpPr txBox="1"/>
          <p:nvPr/>
        </p:nvSpPr>
        <p:spPr>
          <a:xfrm>
            <a:off x="4341353" y="6112768"/>
            <a:ext cx="5192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r>
              <a:rPr lang="ru-RU" sz="1400" dirty="0"/>
              <a:t> запроса поиска по диапазону значений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68561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5F43-DFCA-5EE2-5E36-9142CCC7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полнотекстового поиска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AB1C7E-9472-FCCD-18C6-99A7A6D81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796" y="1825625"/>
            <a:ext cx="783240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E966D-EAF7-2945-9EB6-598C5D9F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E1FA8-85F6-7531-2954-1DBE57E331FC}"/>
              </a:ext>
            </a:extLst>
          </p:cNvPr>
          <p:cNvSpPr txBox="1"/>
          <p:nvPr/>
        </p:nvSpPr>
        <p:spPr>
          <a:xfrm>
            <a:off x="4341353" y="6112768"/>
            <a:ext cx="4305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запроса полнотекстового поиска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314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0DD6-37BF-A5B2-60B2-3BFED193B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E02C5-2B44-1B2D-F2F1-E21946B89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Поставленная цель достигнута — была разработана база данных для платформы игровых модификаций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цели были последовательно выполнены следующие задачи: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 проведен анализ предметной области;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база данных платформы игровых модификаций;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база данных для хранения и обработки данных модификаций и связанных с ними сущностей;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исследованы характеристики разработанной базы данных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99AFF-921D-E5C9-C381-A39A98BB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89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06FB-B21C-1628-C1E1-A5C125A6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Направления дальнейшего развития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B3D9B-BC5F-A839-EA3C-75F9C7361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рейтинга модификаций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персональные пользовательские рекомендации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модерации модификаций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7D298-CD8A-7FE6-0DD6-064FDCC3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C65-E85B-4849-9886-BF40B8DEC1D3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356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1616</TotalTime>
  <Words>640</Words>
  <Application>Microsoft Macintosh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Министерство науки и высшего образования Российской Федерации Федеральное государственное автономное образовательное учреждение высшего образования «Московский государственный технический университет имени Н.Э. Баумана (национальный исследовательский университет)» (МГТУ им. Н.Э. Баумана)</vt:lpstr>
      <vt:lpstr>Цели и задачи</vt:lpstr>
      <vt:lpstr>Анализ предметной области</vt:lpstr>
      <vt:lpstr>Анализ аналогичных решений</vt:lpstr>
      <vt:lpstr>Диаграмма прецедентов</vt:lpstr>
      <vt:lpstr> Диаграмма «сущность-связь»</vt:lpstr>
      <vt:lpstr>Выбор модели хранения данных</vt:lpstr>
      <vt:lpstr>Диаграмма базы данных</vt:lpstr>
      <vt:lpstr>Средства реализации</vt:lpstr>
      <vt:lpstr>Схема триггера проверки наличия файлов версии</vt:lpstr>
      <vt:lpstr>Исследование</vt:lpstr>
      <vt:lpstr>Память используемая индексами </vt:lpstr>
      <vt:lpstr>Производительность поиска по точному совпадению</vt:lpstr>
      <vt:lpstr>Производительность поиска по диапазону значений</vt:lpstr>
      <vt:lpstr>Производительность полнотекстового поиска</vt:lpstr>
      <vt:lpstr>Заключение</vt:lpstr>
      <vt:lpstr>Направления дальнейшего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Gleb Kolokolov</dc:creator>
  <cp:lastModifiedBy>Gleb Kolokolov</cp:lastModifiedBy>
  <cp:revision>179</cp:revision>
  <dcterms:created xsi:type="dcterms:W3CDTF">2025-12-07T14:59:11Z</dcterms:created>
  <dcterms:modified xsi:type="dcterms:W3CDTF">2026-06-04T17:23:24Z</dcterms:modified>
</cp:coreProperties>
</file>